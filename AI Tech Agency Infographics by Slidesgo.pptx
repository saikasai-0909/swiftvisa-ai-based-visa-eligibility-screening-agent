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91" r:id="rId4"/>
    <p:sldId id="292" r:id="rId5"/>
    <p:sldId id="293" r:id="rId6"/>
    <p:sldId id="258" r:id="rId7"/>
    <p:sldId id="294" r:id="rId8"/>
  </p:sldIdLst>
  <p:sldSz cx="9144000" cy="5143500" type="screen16x9"/>
  <p:notesSz cx="6858000" cy="9144000"/>
  <p:embeddedFontLst>
    <p:embeddedFont>
      <p:font typeface="Fira Sans Condensed" panose="020F0502020204030204" pitchFamily="34" charset="0"/>
      <p:regular r:id="rId10"/>
      <p:bold r:id="rId11"/>
      <p:italic r:id="rId12"/>
      <p:boldItalic r:id="rId13"/>
    </p:embeddedFont>
    <p:embeddedFont>
      <p:font typeface="Fira Sans Condensed Light" panose="020F0502020204030204" pitchFamily="34" charset="0"/>
      <p:regular r:id="rId14"/>
      <p:bold r:id="rId15"/>
      <p:italic r:id="rId16"/>
      <p:boldItalic r:id="rId17"/>
    </p:embeddedFont>
    <p:embeddedFont>
      <p:font typeface="Rajdhani" panose="020B0604020202020204" charset="0"/>
      <p:regular r:id="rId18"/>
      <p:bold r:id="rId19"/>
    </p:embeddedFont>
    <p:embeddedFont>
      <p:font typeface="Roboto Condensed Light" panose="02000000000000000000" pitchFamily="2" charset="0"/>
      <p:regular r:id="rId20"/>
      <p: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25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DF63A3C-7AD2-4F12-9655-07F7E498C313}">
  <a:tblStyle styleId="{CDF63A3C-7AD2-4F12-9655-07F7E498C31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orient="horz" pos="62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708a6ee8a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5" name="Google Shape;55;g708a6ee8a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708a6ee8a1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62" name="Google Shape;62;g708a6ee8a1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8a87eb8680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68" name="Google Shape;68;g18a87eb8680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39149" y="928938"/>
            <a:ext cx="4291500" cy="296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39125" y="3848863"/>
            <a:ext cx="42915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634135" y="1434600"/>
            <a:ext cx="35328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1115100" y="1152475"/>
            <a:ext cx="6913800" cy="3456000"/>
          </a:xfrm>
          <a:prstGeom prst="rect">
            <a:avLst/>
          </a:prstGeom>
          <a:solidFill>
            <a:schemeClr val="dk1">
              <a:alpha val="56699"/>
            </a:schemeClr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 sz="1400">
                <a:solidFill>
                  <a:srgbClr val="F3F3F3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400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2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●"/>
              <a:defRPr sz="12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2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2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●"/>
              <a:defRPr sz="12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2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200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7201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5"/>
          <p:cNvSpPr txBox="1">
            <a:spLocks noGrp="1"/>
          </p:cNvSpPr>
          <p:nvPr>
            <p:ph type="subTitle" idx="1"/>
          </p:nvPr>
        </p:nvSpPr>
        <p:spPr>
          <a:xfrm flipH="1">
            <a:off x="5584135" y="2904500"/>
            <a:ext cx="1701300" cy="44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00" b="1"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2"/>
          </p:nvPr>
        </p:nvSpPr>
        <p:spPr>
          <a:xfrm flipH="1">
            <a:off x="5079300" y="3229525"/>
            <a:ext cx="27111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00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3"/>
          </p:nvPr>
        </p:nvSpPr>
        <p:spPr>
          <a:xfrm flipH="1">
            <a:off x="1858635" y="2904500"/>
            <a:ext cx="1701300" cy="44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00" b="1"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4"/>
          </p:nvPr>
        </p:nvSpPr>
        <p:spPr>
          <a:xfrm flipH="1">
            <a:off x="1353800" y="3229525"/>
            <a:ext cx="27111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00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7201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7201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dk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7"/>
          <p:cNvSpPr txBox="1">
            <a:spLocks noGrp="1"/>
          </p:cNvSpPr>
          <p:nvPr>
            <p:ph type="subTitle" idx="1"/>
          </p:nvPr>
        </p:nvSpPr>
        <p:spPr>
          <a:xfrm>
            <a:off x="2487163" y="1434600"/>
            <a:ext cx="33678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1400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30228" y="1434600"/>
            <a:ext cx="19671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2422250" y="1418700"/>
            <a:ext cx="4299600" cy="23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4799950" y="1954200"/>
            <a:ext cx="194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title" idx="2" hasCustomPrompt="1"/>
          </p:nvPr>
        </p:nvSpPr>
        <p:spPr>
          <a:xfrm>
            <a:off x="4849170" y="1001125"/>
            <a:ext cx="2026800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dk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10"/>
          <p:cNvSpPr txBox="1">
            <a:spLocks noGrp="1"/>
          </p:cNvSpPr>
          <p:nvPr>
            <p:ph type="title"/>
          </p:nvPr>
        </p:nvSpPr>
        <p:spPr>
          <a:xfrm>
            <a:off x="720100" y="1706850"/>
            <a:ext cx="2759700" cy="172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2062500"/>
            <a:ext cx="8520600" cy="11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255700"/>
            <a:ext cx="8520600" cy="51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●"/>
              <a:defRPr sz="1400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○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■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●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○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■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●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○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■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●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○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■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●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○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■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●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○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■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2880">
          <p15:clr>
            <a:srgbClr val="EA4335"/>
          </p15:clr>
        </p15:guide>
        <p15:guide id="3" pos="5311">
          <p15:clr>
            <a:srgbClr val="EA4335"/>
          </p15:clr>
        </p15:guide>
        <p15:guide id="4" orient="horz" pos="340">
          <p15:clr>
            <a:srgbClr val="EA4335"/>
          </p15:clr>
        </p15:guide>
        <p15:guide id="5" orient="horz" pos="2903">
          <p15:clr>
            <a:srgbClr val="EA4335"/>
          </p15:clr>
        </p15:guide>
        <p15:guide id="6" orient="horz" pos="16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>
            <a:spLocks noGrp="1"/>
          </p:cNvSpPr>
          <p:nvPr>
            <p:ph type="ctrTitle"/>
          </p:nvPr>
        </p:nvSpPr>
        <p:spPr>
          <a:xfrm>
            <a:off x="3650725" y="928938"/>
            <a:ext cx="4779924" cy="296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br>
              <a:rPr lang="en-IN" b="0" dirty="0"/>
            </a:br>
            <a:r>
              <a:rPr lang="en-IN" b="0" dirty="0"/>
              <a:t> </a:t>
            </a:r>
            <a:r>
              <a:rPr lang="en-IN" dirty="0"/>
              <a:t>Swift Visa:</a:t>
            </a:r>
            <a:endParaRPr sz="5000" dirty="0"/>
          </a:p>
        </p:txBody>
      </p:sp>
      <p:sp>
        <p:nvSpPr>
          <p:cNvPr id="58" name="Google Shape;58;p15"/>
          <p:cNvSpPr txBox="1">
            <a:spLocks noGrp="1"/>
          </p:cNvSpPr>
          <p:nvPr>
            <p:ph type="subTitle" idx="1"/>
          </p:nvPr>
        </p:nvSpPr>
        <p:spPr>
          <a:xfrm>
            <a:off x="4139125" y="3848863"/>
            <a:ext cx="42915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AI-Based Visa Eligibility and Screening Agent</a:t>
            </a:r>
            <a:endParaRPr dirty="0"/>
          </a:p>
        </p:txBody>
      </p:sp>
      <p:pic>
        <p:nvPicPr>
          <p:cNvPr id="59" name="Google Shape;59;p15"/>
          <p:cNvPicPr preferRelativeResize="0"/>
          <p:nvPr/>
        </p:nvPicPr>
        <p:blipFill rotWithShape="1">
          <a:blip r:embed="rId4">
            <a:alphaModFix/>
          </a:blip>
          <a:srcRect l="25302" r="25297"/>
          <a:stretch/>
        </p:blipFill>
        <p:spPr>
          <a:xfrm>
            <a:off x="767950" y="978400"/>
            <a:ext cx="3049450" cy="3472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>
            <a:spLocks noGrp="1"/>
          </p:cNvSpPr>
          <p:nvPr>
            <p:ph type="title"/>
          </p:nvPr>
        </p:nvSpPr>
        <p:spPr>
          <a:xfrm>
            <a:off x="7201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Traditional Approach as an Issue:</a:t>
            </a:r>
            <a:endParaRPr sz="3000" dirty="0"/>
          </a:p>
        </p:txBody>
      </p:sp>
      <p:sp>
        <p:nvSpPr>
          <p:cNvPr id="65" name="Google Shape;65;p16"/>
          <p:cNvSpPr txBox="1">
            <a:spLocks noGrp="1"/>
          </p:cNvSpPr>
          <p:nvPr>
            <p:ph type="body" idx="1"/>
          </p:nvPr>
        </p:nvSpPr>
        <p:spPr>
          <a:xfrm>
            <a:off x="1115100" y="1152475"/>
            <a:ext cx="6913800" cy="34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b="1" dirty="0"/>
              <a:t>What is the problem?</a:t>
            </a:r>
            <a:endParaRPr lang="en-IN" dirty="0"/>
          </a:p>
          <a:p>
            <a:pPr marL="139700" indent="0">
              <a:buNone/>
            </a:pPr>
            <a:r>
              <a:rPr lang="en-US" dirty="0"/>
              <a:t>       Traditional rule-based systems depends on translation APIs, OCR, or scraped content to evaluate the Visa status which makes it rigid and imperfect for recent changes in rules. </a:t>
            </a:r>
          </a:p>
          <a:p>
            <a:pPr marL="139700" indent="0">
              <a:buNone/>
            </a:pPr>
            <a:endParaRPr lang="en-IN" dirty="0"/>
          </a:p>
          <a:p>
            <a:pPr lvl="0"/>
            <a:r>
              <a:rPr lang="en-IN" b="1" dirty="0"/>
              <a:t>Why does this problem exist?</a:t>
            </a:r>
            <a:br>
              <a:rPr lang="en-IN" dirty="0"/>
            </a:br>
            <a:r>
              <a:rPr lang="en-IN" dirty="0"/>
              <a:t>Lack of structured information, outdated rules, and lack of Advance and recent visa policy access to rule based system.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Who faces the problem?</a:t>
            </a:r>
            <a:br>
              <a:rPr lang="en-IN" dirty="0"/>
            </a:br>
            <a:r>
              <a:rPr lang="en-IN" dirty="0"/>
              <a:t>Students, travellers, workers, immigration consultants.</a:t>
            </a:r>
          </a:p>
          <a:p>
            <a:pPr marL="139700" lvl="0" indent="0">
              <a:buNone/>
            </a:pPr>
            <a:endParaRPr lang="en-IN" dirty="0"/>
          </a:p>
          <a:p>
            <a:pPr lvl="0"/>
            <a:r>
              <a:rPr lang="en-IN" b="1" dirty="0"/>
              <a:t>What will a solution achieve?</a:t>
            </a:r>
            <a:br>
              <a:rPr lang="en-IN" dirty="0"/>
            </a:br>
            <a:r>
              <a:rPr lang="en-IN" dirty="0"/>
              <a:t>Automation, accuracy, fast decision-making which is making it easy to evaluate the visa’s condition.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71994D4-4C4B-AA4C-C7A5-5EE4F141C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100" y="1152475"/>
            <a:ext cx="6913800" cy="3749534"/>
          </a:xfrm>
        </p:spPr>
        <p:txBody>
          <a:bodyPr/>
          <a:lstStyle/>
          <a:p>
            <a:pPr marL="139700" indent="0">
              <a:buNone/>
            </a:pPr>
            <a:r>
              <a:rPr lang="en-IN" dirty="0"/>
              <a:t>In this project, I will try to :</a:t>
            </a:r>
          </a:p>
          <a:p>
            <a:pPr lvl="0"/>
            <a:r>
              <a:rPr lang="en-IN" dirty="0"/>
              <a:t>Build an </a:t>
            </a:r>
            <a:r>
              <a:rPr lang="en-IN" b="1" dirty="0"/>
              <a:t>AI-powered agent</a:t>
            </a:r>
            <a:r>
              <a:rPr lang="en-IN" dirty="0"/>
              <a:t> that evaluates a user's visa eligibility on the basis of the Vector Database.</a:t>
            </a:r>
          </a:p>
          <a:p>
            <a:pPr marL="139700" lvl="0" indent="0">
              <a:buNone/>
            </a:pPr>
            <a:endParaRPr lang="en-IN" dirty="0"/>
          </a:p>
          <a:p>
            <a:pPr lvl="0"/>
            <a:r>
              <a:rPr lang="en-IN" dirty="0"/>
              <a:t>Use </a:t>
            </a:r>
            <a:r>
              <a:rPr lang="en-IN" b="1" dirty="0"/>
              <a:t>RAG (Retrieval-Augmented Generation)</a:t>
            </a:r>
            <a:r>
              <a:rPr lang="en-IN" dirty="0"/>
              <a:t> to ground answers in real immigration policy and lash it with recent and real time data.</a:t>
            </a:r>
          </a:p>
          <a:p>
            <a:pPr marL="139700" lvl="0" indent="0">
              <a:buNone/>
            </a:pPr>
            <a:endParaRPr lang="en-IN" dirty="0"/>
          </a:p>
          <a:p>
            <a:pPr lvl="0"/>
            <a:r>
              <a:rPr lang="en-IN" dirty="0"/>
              <a:t>Collect official </a:t>
            </a:r>
            <a:r>
              <a:rPr lang="en-IN" b="1" dirty="0"/>
              <a:t>visa rules from various countries </a:t>
            </a:r>
            <a:r>
              <a:rPr lang="en-IN" dirty="0"/>
              <a:t>.</a:t>
            </a:r>
          </a:p>
          <a:p>
            <a:pPr marL="139700" lvl="0" indent="0">
              <a:buNone/>
            </a:pPr>
            <a:endParaRPr lang="en-IN" dirty="0"/>
          </a:p>
          <a:p>
            <a:pPr lvl="0"/>
            <a:r>
              <a:rPr lang="en-IN" dirty="0"/>
              <a:t>Convert these rules into </a:t>
            </a:r>
            <a:r>
              <a:rPr lang="en-IN" b="1" dirty="0"/>
              <a:t>vector embeddings</a:t>
            </a:r>
            <a:r>
              <a:rPr lang="en-IN" dirty="0"/>
              <a:t> and store them in </a:t>
            </a:r>
            <a:r>
              <a:rPr lang="en-IN" b="1" dirty="0"/>
              <a:t>FAISS/Chroma</a:t>
            </a:r>
            <a:r>
              <a:rPr lang="en-IN" dirty="0"/>
              <a:t>.</a:t>
            </a:r>
          </a:p>
          <a:p>
            <a:pPr marL="139700" lvl="0" indent="0">
              <a:buNone/>
            </a:pPr>
            <a:endParaRPr lang="en-IN" dirty="0"/>
          </a:p>
          <a:p>
            <a:pPr lvl="0"/>
            <a:r>
              <a:rPr lang="en-IN" dirty="0"/>
              <a:t>Build a </a:t>
            </a:r>
            <a:r>
              <a:rPr lang="en-IN" b="1" dirty="0"/>
              <a:t>Streamlit-based user interface</a:t>
            </a:r>
            <a:r>
              <a:rPr lang="en-IN" dirty="0"/>
              <a:t> where users enter their details.</a:t>
            </a:r>
          </a:p>
          <a:p>
            <a:pPr marL="139700" lvl="0" indent="0">
              <a:buNone/>
            </a:pPr>
            <a:endParaRPr lang="en-IN" dirty="0"/>
          </a:p>
          <a:p>
            <a:pPr lvl="0"/>
            <a:r>
              <a:rPr lang="en-IN" dirty="0"/>
              <a:t>Integrate the UI with the backend </a:t>
            </a:r>
            <a:r>
              <a:rPr lang="en-IN" b="1" dirty="0"/>
              <a:t>LLM pipeline</a:t>
            </a:r>
            <a:r>
              <a:rPr lang="en-IN" dirty="0"/>
              <a:t>(with a good prompt).</a:t>
            </a:r>
          </a:p>
          <a:p>
            <a:pPr marL="139700" lvl="0" indent="0">
              <a:buNone/>
            </a:pPr>
            <a:endParaRPr lang="en-IN" dirty="0"/>
          </a:p>
          <a:p>
            <a:pPr lvl="0"/>
            <a:r>
              <a:rPr lang="en-IN" dirty="0"/>
              <a:t>Deploy the agentic model for use.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0333CA-C18A-8E7A-1494-241ADE53F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 Will Do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2428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E38222-7E1F-2310-3A5F-54B6E9E659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IN" dirty="0"/>
              <a:t>The objective of this project is to:</a:t>
            </a:r>
          </a:p>
          <a:p>
            <a:pPr marL="139700" indent="0">
              <a:buNone/>
            </a:pPr>
            <a:endParaRPr lang="en-IN" dirty="0"/>
          </a:p>
          <a:p>
            <a:pPr lvl="0"/>
            <a:r>
              <a:rPr lang="en-IN" dirty="0"/>
              <a:t>Create a complete and full-fledged system that functions like a virtual </a:t>
            </a:r>
            <a:r>
              <a:rPr lang="en-IN" b="1" dirty="0"/>
              <a:t>visa eligibility officer</a:t>
            </a:r>
            <a:r>
              <a:rPr lang="en-IN" dirty="0"/>
              <a:t>.</a:t>
            </a:r>
          </a:p>
          <a:p>
            <a:pPr lvl="0"/>
            <a:endParaRPr lang="en-IN" dirty="0"/>
          </a:p>
          <a:p>
            <a:pPr lvl="0"/>
            <a:r>
              <a:rPr lang="en-IN" dirty="0"/>
              <a:t>Evaluate visa eligibility using </a:t>
            </a:r>
            <a:r>
              <a:rPr lang="en-IN" b="1" dirty="0"/>
              <a:t>LLMs and Agents</a:t>
            </a:r>
            <a:r>
              <a:rPr lang="en-IN" dirty="0"/>
              <a:t>, not rule-based logic.</a:t>
            </a:r>
          </a:p>
          <a:p>
            <a:pPr lvl="0"/>
            <a:endParaRPr lang="en-IN" dirty="0"/>
          </a:p>
          <a:p>
            <a:pPr lvl="0"/>
            <a:r>
              <a:rPr lang="en-IN" dirty="0"/>
              <a:t>Ensure responses are always </a:t>
            </a:r>
            <a:r>
              <a:rPr lang="en-IN" b="1" dirty="0"/>
              <a:t>grounded in official policy documents</a:t>
            </a:r>
            <a:r>
              <a:rPr lang="en-IN" dirty="0"/>
              <a:t>.</a:t>
            </a:r>
          </a:p>
          <a:p>
            <a:pPr lvl="0"/>
            <a:endParaRPr lang="en-IN" dirty="0"/>
          </a:p>
          <a:p>
            <a:pPr lvl="0"/>
            <a:r>
              <a:rPr lang="en-IN" dirty="0"/>
              <a:t>Provide transparent results with </a:t>
            </a:r>
            <a:r>
              <a:rPr lang="en-IN" b="1" dirty="0"/>
              <a:t>explanations, citations, and confidence scores</a:t>
            </a:r>
            <a:r>
              <a:rPr lang="en-IN" dirty="0"/>
              <a:t>.</a:t>
            </a:r>
          </a:p>
          <a:p>
            <a:pPr lvl="0"/>
            <a:endParaRPr lang="en-IN" dirty="0"/>
          </a:p>
          <a:p>
            <a:pPr lvl="0"/>
            <a:r>
              <a:rPr lang="en-IN" dirty="0"/>
              <a:t>Build an interactive, easy-to-use </a:t>
            </a:r>
            <a:r>
              <a:rPr lang="en-IN" b="1" dirty="0"/>
              <a:t>web application</a:t>
            </a:r>
            <a:r>
              <a:rPr lang="en-IN" dirty="0"/>
              <a:t> for users with Streamlit.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4222B8-102B-9626-EB12-FAFAF38EC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 of the Project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9885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62396C9-E120-4D07-9C82-0972FF12E0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IN" dirty="0"/>
              <a:t>Students checking eligibility for student visas.</a:t>
            </a:r>
          </a:p>
          <a:p>
            <a:pPr marL="139700" lvl="0" indent="0">
              <a:buNone/>
            </a:pPr>
            <a:endParaRPr lang="en-IN" dirty="0"/>
          </a:p>
          <a:p>
            <a:pPr lvl="0"/>
            <a:r>
              <a:rPr lang="en-IN" dirty="0"/>
              <a:t>Workers checking eligibility for skilled migration visas.</a:t>
            </a:r>
          </a:p>
          <a:p>
            <a:pPr marL="139700" lvl="0" indent="0">
              <a:buNone/>
            </a:pPr>
            <a:endParaRPr lang="en-IN" dirty="0"/>
          </a:p>
          <a:p>
            <a:pPr lvl="0"/>
            <a:r>
              <a:rPr lang="en-IN" dirty="0"/>
              <a:t>Tourists evaluating short-term visa requirements.</a:t>
            </a:r>
          </a:p>
          <a:p>
            <a:pPr marL="139700" lvl="0" indent="0">
              <a:buNone/>
            </a:pPr>
            <a:endParaRPr lang="en-IN" dirty="0"/>
          </a:p>
          <a:p>
            <a:pPr lvl="0"/>
            <a:r>
              <a:rPr lang="en-IN" dirty="0"/>
              <a:t>Immigration advisors for quick screening of the current visa.</a:t>
            </a:r>
          </a:p>
          <a:p>
            <a:pPr marL="139700" lvl="0" indent="0">
              <a:buNone/>
            </a:pPr>
            <a:endParaRPr lang="en-IN" dirty="0"/>
          </a:p>
          <a:p>
            <a:pPr lvl="0"/>
            <a:r>
              <a:rPr lang="en-IN" dirty="0"/>
              <a:t>Companies evaluating workers for work permits.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60F91B2-207D-5E9D-D27E-727B96516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3238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7201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TECH AGENCY INFOGRAPHICS</a:t>
            </a:r>
            <a:endParaRPr/>
          </a:p>
        </p:txBody>
      </p:sp>
      <p:grpSp>
        <p:nvGrpSpPr>
          <p:cNvPr id="71" name="Google Shape;71;p17"/>
          <p:cNvGrpSpPr/>
          <p:nvPr/>
        </p:nvGrpSpPr>
        <p:grpSpPr>
          <a:xfrm>
            <a:off x="5699116" y="1676451"/>
            <a:ext cx="2155203" cy="802139"/>
            <a:chOff x="5699116" y="1672629"/>
            <a:chExt cx="2155203" cy="802139"/>
          </a:xfrm>
        </p:grpSpPr>
        <p:sp>
          <p:nvSpPr>
            <p:cNvPr id="72" name="Google Shape;72;p17"/>
            <p:cNvSpPr txBox="1"/>
            <p:nvPr/>
          </p:nvSpPr>
          <p:spPr>
            <a:xfrm>
              <a:off x="5699116" y="1672629"/>
              <a:ext cx="2155200" cy="45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LLM Engine</a:t>
              </a:r>
              <a:endParaRPr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73" name="Google Shape;73;p17"/>
            <p:cNvSpPr txBox="1"/>
            <p:nvPr/>
          </p:nvSpPr>
          <p:spPr>
            <a:xfrm>
              <a:off x="5699118" y="1930567"/>
              <a:ext cx="2155200" cy="54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lt2"/>
                  </a:solidFill>
                  <a:latin typeface="Fira Sans Condensed"/>
                  <a:ea typeface="Fira Sans Condensed"/>
                  <a:cs typeface="Fira Sans Condensed"/>
                  <a:sym typeface="Fira Sans Condensed"/>
                </a:rPr>
                <a:t>Helps in finding the result and givng proper explanation as well</a:t>
              </a:r>
              <a:endParaRPr dirty="0">
                <a:solidFill>
                  <a:schemeClr val="lt2"/>
                </a:solidFill>
                <a:latin typeface="Fira Sans Condensed"/>
                <a:ea typeface="Fira Sans Condensed"/>
                <a:cs typeface="Fira Sans Condensed"/>
                <a:sym typeface="Fira Sans Condensed"/>
              </a:endParaRPr>
            </a:p>
          </p:txBody>
        </p:sp>
      </p:grpSp>
      <p:grpSp>
        <p:nvGrpSpPr>
          <p:cNvPr id="74" name="Google Shape;74;p17"/>
          <p:cNvGrpSpPr/>
          <p:nvPr/>
        </p:nvGrpSpPr>
        <p:grpSpPr>
          <a:xfrm>
            <a:off x="2313750" y="3499044"/>
            <a:ext cx="2155206" cy="802374"/>
            <a:chOff x="2313750" y="3396990"/>
            <a:chExt cx="2155206" cy="802374"/>
          </a:xfrm>
        </p:grpSpPr>
        <p:sp>
          <p:nvSpPr>
            <p:cNvPr id="75" name="Google Shape;75;p17"/>
            <p:cNvSpPr txBox="1"/>
            <p:nvPr/>
          </p:nvSpPr>
          <p:spPr>
            <a:xfrm>
              <a:off x="2313750" y="3396990"/>
              <a:ext cx="2155200" cy="45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RAG Pipeline</a:t>
              </a:r>
              <a:endParaRPr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76" name="Google Shape;76;p17"/>
            <p:cNvSpPr txBox="1"/>
            <p:nvPr/>
          </p:nvSpPr>
          <p:spPr>
            <a:xfrm>
              <a:off x="2313756" y="3650664"/>
              <a:ext cx="21552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lt2"/>
                  </a:solidFill>
                  <a:latin typeface="Fira Sans Condensed"/>
                  <a:ea typeface="Fira Sans Condensed"/>
                  <a:cs typeface="Fira Sans Condensed"/>
                  <a:sym typeface="Fira Sans Condensed"/>
                </a:rPr>
                <a:t>Retrive recent and relevent Immigration rules</a:t>
              </a:r>
              <a:endParaRPr dirty="0">
                <a:solidFill>
                  <a:schemeClr val="lt2"/>
                </a:solidFill>
                <a:latin typeface="Fira Sans Condensed"/>
                <a:ea typeface="Fira Sans Condensed"/>
                <a:cs typeface="Fira Sans Condensed"/>
                <a:sym typeface="Fira Sans Condensed"/>
              </a:endParaRPr>
            </a:p>
          </p:txBody>
        </p:sp>
      </p:grpSp>
      <p:grpSp>
        <p:nvGrpSpPr>
          <p:cNvPr id="77" name="Google Shape;77;p17"/>
          <p:cNvGrpSpPr/>
          <p:nvPr/>
        </p:nvGrpSpPr>
        <p:grpSpPr>
          <a:xfrm>
            <a:off x="5699116" y="3499045"/>
            <a:ext cx="2155203" cy="802372"/>
            <a:chOff x="5699116" y="3389935"/>
            <a:chExt cx="2155203" cy="802372"/>
          </a:xfrm>
        </p:grpSpPr>
        <p:sp>
          <p:nvSpPr>
            <p:cNvPr id="78" name="Google Shape;78;p17"/>
            <p:cNvSpPr txBox="1"/>
            <p:nvPr/>
          </p:nvSpPr>
          <p:spPr>
            <a:xfrm>
              <a:off x="5699116" y="3389935"/>
              <a:ext cx="2155200" cy="45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Front-end Application</a:t>
              </a:r>
              <a:endParaRPr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79" name="Google Shape;79;p17"/>
            <p:cNvSpPr txBox="1"/>
            <p:nvPr/>
          </p:nvSpPr>
          <p:spPr>
            <a:xfrm>
              <a:off x="5699118" y="3643607"/>
              <a:ext cx="21552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lt2"/>
                  </a:solidFill>
                  <a:latin typeface="Fira Sans Condensed"/>
                  <a:ea typeface="Fira Sans Condensed"/>
                  <a:cs typeface="Fira Sans Condensed"/>
                  <a:sym typeface="Fira Sans Condensed"/>
                </a:rPr>
                <a:t>A proper UI and UX frontend is made to showcase the model</a:t>
              </a:r>
              <a:endParaRPr dirty="0">
                <a:solidFill>
                  <a:schemeClr val="lt2"/>
                </a:solidFill>
                <a:latin typeface="Fira Sans Condensed"/>
                <a:ea typeface="Fira Sans Condensed"/>
                <a:cs typeface="Fira Sans Condensed"/>
                <a:sym typeface="Fira Sans Condensed"/>
              </a:endParaRPr>
            </a:p>
          </p:txBody>
        </p:sp>
      </p:grpSp>
      <p:grpSp>
        <p:nvGrpSpPr>
          <p:cNvPr id="80" name="Google Shape;80;p17"/>
          <p:cNvGrpSpPr/>
          <p:nvPr/>
        </p:nvGrpSpPr>
        <p:grpSpPr>
          <a:xfrm>
            <a:off x="2313750" y="1675492"/>
            <a:ext cx="2155206" cy="804056"/>
            <a:chOff x="2313750" y="1566323"/>
            <a:chExt cx="2155206" cy="804056"/>
          </a:xfrm>
        </p:grpSpPr>
        <p:sp>
          <p:nvSpPr>
            <p:cNvPr id="81" name="Google Shape;81;p17"/>
            <p:cNvSpPr txBox="1"/>
            <p:nvPr/>
          </p:nvSpPr>
          <p:spPr>
            <a:xfrm>
              <a:off x="2313750" y="1566323"/>
              <a:ext cx="2155200" cy="45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Vector Store</a:t>
              </a:r>
              <a:endParaRPr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82" name="Google Shape;82;p17"/>
            <p:cNvSpPr txBox="1"/>
            <p:nvPr/>
          </p:nvSpPr>
          <p:spPr>
            <a:xfrm>
              <a:off x="2313756" y="1826179"/>
              <a:ext cx="2155200" cy="54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lt2"/>
                  </a:solidFill>
                  <a:latin typeface="Fira Sans Condensed"/>
                  <a:ea typeface="Fira Sans Condensed"/>
                  <a:cs typeface="Fira Sans Condensed"/>
                  <a:sym typeface="Fira Sans Condensed"/>
                </a:rPr>
                <a:t>Official rules are collected here virtually and embedded and stored in virtual Chroma/FAISS</a:t>
              </a:r>
              <a:endParaRPr dirty="0">
                <a:solidFill>
                  <a:schemeClr val="lt2"/>
                </a:solidFill>
                <a:latin typeface="Fira Sans Condensed"/>
                <a:ea typeface="Fira Sans Condensed"/>
                <a:cs typeface="Fira Sans Condensed"/>
                <a:sym typeface="Fira Sans Condensed"/>
              </a:endParaRPr>
            </a:p>
          </p:txBody>
        </p:sp>
      </p:grpSp>
      <p:sp>
        <p:nvSpPr>
          <p:cNvPr id="83" name="Google Shape;83;p17"/>
          <p:cNvSpPr/>
          <p:nvPr/>
        </p:nvSpPr>
        <p:spPr>
          <a:xfrm>
            <a:off x="1289677" y="1652336"/>
            <a:ext cx="877800" cy="877800"/>
          </a:xfrm>
          <a:prstGeom prst="roundRect">
            <a:avLst>
              <a:gd name="adj" fmla="val 0"/>
            </a:avLst>
          </a:prstGeom>
          <a:solidFill>
            <a:srgbClr val="F3F3F3">
              <a:alpha val="23720"/>
            </a:srgbClr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1</a:t>
            </a:r>
            <a:endParaRPr sz="4000" b="1" dirty="0">
              <a:solidFill>
                <a:schemeClr val="lt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4672346" y="1652336"/>
            <a:ext cx="877800" cy="877800"/>
          </a:xfrm>
          <a:prstGeom prst="roundRect">
            <a:avLst>
              <a:gd name="adj" fmla="val 0"/>
            </a:avLst>
          </a:prstGeom>
          <a:solidFill>
            <a:srgbClr val="F3F3F3">
              <a:alpha val="23720"/>
            </a:srgbClr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3</a:t>
            </a:r>
            <a:endParaRPr sz="4000" b="1" dirty="0">
              <a:solidFill>
                <a:schemeClr val="lt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1289677" y="3475047"/>
            <a:ext cx="877800" cy="877800"/>
          </a:xfrm>
          <a:prstGeom prst="roundRect">
            <a:avLst>
              <a:gd name="adj" fmla="val 0"/>
            </a:avLst>
          </a:prstGeom>
          <a:solidFill>
            <a:srgbClr val="F3F3F3">
              <a:alpha val="23720"/>
            </a:srgbClr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2</a:t>
            </a:r>
            <a:endParaRPr sz="4000" b="1" dirty="0">
              <a:solidFill>
                <a:schemeClr val="lt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4672346" y="3475047"/>
            <a:ext cx="877800" cy="877800"/>
          </a:xfrm>
          <a:prstGeom prst="roundRect">
            <a:avLst>
              <a:gd name="adj" fmla="val 0"/>
            </a:avLst>
          </a:prstGeom>
          <a:solidFill>
            <a:srgbClr val="F3F3F3">
              <a:alpha val="23720"/>
            </a:srgbClr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4</a:t>
            </a:r>
            <a:endParaRPr sz="4000" b="1" dirty="0">
              <a:solidFill>
                <a:schemeClr val="lt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5FDF62D-AD75-B2D3-2882-D6A0F1774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100" y="886900"/>
            <a:ext cx="6913800" cy="4256600"/>
          </a:xfrm>
        </p:spPr>
        <p:txBody>
          <a:bodyPr/>
          <a:lstStyle/>
          <a:p>
            <a:r>
              <a:rPr lang="en-IN" b="1" dirty="0"/>
              <a:t>Frontend</a:t>
            </a:r>
            <a:endParaRPr lang="en-IN" dirty="0"/>
          </a:p>
          <a:p>
            <a:pPr marL="139700" lvl="0" indent="0">
              <a:buNone/>
            </a:pPr>
            <a:r>
              <a:rPr lang="en-IN" dirty="0"/>
              <a:t>Streamlit</a:t>
            </a:r>
          </a:p>
          <a:p>
            <a:pPr marL="139700" lvl="0" indent="0">
              <a:buNone/>
            </a:pPr>
            <a:endParaRPr lang="en-IN" dirty="0"/>
          </a:p>
          <a:p>
            <a:r>
              <a:rPr lang="en-IN" b="1" dirty="0"/>
              <a:t>Backend</a:t>
            </a:r>
            <a:endParaRPr lang="en-IN" dirty="0"/>
          </a:p>
          <a:p>
            <a:pPr marL="139700" lvl="0" indent="0">
              <a:buNone/>
            </a:pPr>
            <a:r>
              <a:rPr lang="en-IN" dirty="0"/>
              <a:t>Python</a:t>
            </a:r>
          </a:p>
          <a:p>
            <a:pPr marL="139700" lvl="0" indent="0">
              <a:buNone/>
            </a:pPr>
            <a:r>
              <a:rPr lang="en-IN" dirty="0"/>
              <a:t>Lang Chain / Fast API</a:t>
            </a:r>
          </a:p>
          <a:p>
            <a:pPr marL="139700" lvl="0" indent="0">
              <a:buNone/>
            </a:pPr>
            <a:endParaRPr lang="en-IN" dirty="0"/>
          </a:p>
          <a:p>
            <a:r>
              <a:rPr lang="en-IN" b="1" dirty="0"/>
              <a:t>LLM Models</a:t>
            </a:r>
            <a:endParaRPr lang="en-IN" dirty="0"/>
          </a:p>
          <a:p>
            <a:pPr marL="139700" lvl="0" indent="0">
              <a:buNone/>
            </a:pPr>
            <a:r>
              <a:rPr lang="en-IN" dirty="0"/>
              <a:t>GPT-4.o</a:t>
            </a:r>
          </a:p>
          <a:p>
            <a:pPr marL="139700" lvl="0" indent="0">
              <a:buNone/>
            </a:pPr>
            <a:r>
              <a:rPr lang="en-IN" dirty="0"/>
              <a:t>Mistral 7B (via LM Studio)</a:t>
            </a:r>
          </a:p>
          <a:p>
            <a:pPr marL="139700" lvl="0" indent="0">
              <a:buNone/>
            </a:pPr>
            <a:endParaRPr lang="en-IN" dirty="0"/>
          </a:p>
          <a:p>
            <a:r>
              <a:rPr lang="en-IN" b="1" dirty="0"/>
              <a:t>Vector Store</a:t>
            </a:r>
            <a:endParaRPr lang="en-IN" dirty="0"/>
          </a:p>
          <a:p>
            <a:pPr marL="139700" lvl="0" indent="0">
              <a:buNone/>
            </a:pPr>
            <a:r>
              <a:rPr lang="en-IN" dirty="0"/>
              <a:t>FAISS / Chroma</a:t>
            </a:r>
          </a:p>
          <a:p>
            <a:pPr marL="139700" lvl="0" indent="0">
              <a:buNone/>
            </a:pPr>
            <a:endParaRPr lang="en-IN" dirty="0"/>
          </a:p>
          <a:p>
            <a:r>
              <a:rPr lang="en-IN" b="1" dirty="0"/>
              <a:t>Embeddings</a:t>
            </a:r>
            <a:endParaRPr lang="en-IN" dirty="0"/>
          </a:p>
          <a:p>
            <a:pPr marL="139700" lvl="0" indent="0">
              <a:buNone/>
            </a:pPr>
            <a:r>
              <a:rPr lang="en-IN" dirty="0"/>
              <a:t>Sentence Transformers</a:t>
            </a:r>
          </a:p>
          <a:p>
            <a:pPr marL="139700" lvl="0" indent="0">
              <a:buNone/>
            </a:pPr>
            <a:endParaRPr lang="en-IN" dirty="0"/>
          </a:p>
          <a:p>
            <a:r>
              <a:rPr lang="en-IN" b="1" dirty="0"/>
              <a:t>Deployment</a:t>
            </a:r>
            <a:endParaRPr lang="en-IN" dirty="0"/>
          </a:p>
          <a:p>
            <a:pPr marL="139700" lvl="0" indent="0">
              <a:buNone/>
            </a:pPr>
            <a:r>
              <a:rPr lang="en-IN" dirty="0"/>
              <a:t>Streamlit Cloud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C78A91-6F70-2906-8B4A-A3C152378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100" y="391886"/>
            <a:ext cx="7704000" cy="720314"/>
          </a:xfrm>
        </p:spPr>
        <p:txBody>
          <a:bodyPr/>
          <a:lstStyle/>
          <a:p>
            <a:r>
              <a:rPr lang="en-US" dirty="0"/>
              <a:t>Tech Stack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5258187"/>
      </p:ext>
    </p:extLst>
  </p:cSld>
  <p:clrMapOvr>
    <a:masterClrMapping/>
  </p:clrMapOvr>
</p:sld>
</file>

<file path=ppt/theme/theme1.xml><?xml version="1.0" encoding="utf-8"?>
<a:theme xmlns:a="http://schemas.openxmlformats.org/drawingml/2006/main" name="AI Tech Agency Infographics by Slidesgo">
  <a:themeElements>
    <a:clrScheme name="Simple Light">
      <a:dk1>
        <a:srgbClr val="0C343D"/>
      </a:dk1>
      <a:lt1>
        <a:srgbClr val="00C3B1"/>
      </a:lt1>
      <a:dk2>
        <a:srgbClr val="CC4125"/>
      </a:dk2>
      <a:lt2>
        <a:srgbClr val="F3F3F3"/>
      </a:lt2>
      <a:accent1>
        <a:srgbClr val="0C343D"/>
      </a:accent1>
      <a:accent2>
        <a:srgbClr val="00C3B1"/>
      </a:accent2>
      <a:accent3>
        <a:srgbClr val="CC4125"/>
      </a:accent3>
      <a:accent4>
        <a:srgbClr val="F3F3F3"/>
      </a:accent4>
      <a:accent5>
        <a:srgbClr val="0C343D"/>
      </a:accent5>
      <a:accent6>
        <a:srgbClr val="00C3B1"/>
      </a:accent6>
      <a:hlink>
        <a:srgbClr val="F3F3F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703</TotalTime>
  <Words>436</Words>
  <Application>Microsoft Office PowerPoint</Application>
  <PresentationFormat>On-screen Show (16:9)</PresentationFormat>
  <Paragraphs>81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Roboto Condensed Light</vt:lpstr>
      <vt:lpstr>Fira Sans Condensed Light</vt:lpstr>
      <vt:lpstr>Arial</vt:lpstr>
      <vt:lpstr>Fira Sans Condensed</vt:lpstr>
      <vt:lpstr>Anaheim</vt:lpstr>
      <vt:lpstr>Rajdhani</vt:lpstr>
      <vt:lpstr>AI Tech Agency Infographics by Slidesgo</vt:lpstr>
      <vt:lpstr>  Swift Visa:</vt:lpstr>
      <vt:lpstr>Traditional Approach as an Issue:</vt:lpstr>
      <vt:lpstr>What I Will Do</vt:lpstr>
      <vt:lpstr>Objective of the Project</vt:lpstr>
      <vt:lpstr>Use Cases</vt:lpstr>
      <vt:lpstr>AI TECH AGENCY INFOGRAPHICS</vt:lpstr>
      <vt:lpstr>Tech Stack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Kriti Krishna Panda</cp:lastModifiedBy>
  <cp:revision>3</cp:revision>
  <dcterms:modified xsi:type="dcterms:W3CDTF">2025-11-28T13:37:16Z</dcterms:modified>
</cp:coreProperties>
</file>